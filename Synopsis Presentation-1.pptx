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8" r:id="rId12"/>
    <p:sldId id="264" r:id="rId13"/>
    <p:sldId id="267" r:id="rId14"/>
    <p:sldId id="265" r:id="rId15"/>
    <p:sldId id="269" r:id="rId16"/>
    <p:sldId id="266" r:id="rId17"/>
  </p:sldIdLst>
  <p:sldSz cx="9144000" cy="6858000"/>
  <p:notesSz cx="6760845" cy="9942195"/>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4AA89A1-F17A-4D3D-AC08-D16056C1651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4AA89A1-F17A-4D3D-AC08-D16056C1651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4AA89A1-F17A-4D3D-AC08-D16056C1651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1"/>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Final Year Project Synopsis</a:t>
            </a:r>
            <a:endParaRPr lang="en-IN" sz="2400" b="1" dirty="0">
              <a:solidFill>
                <a:srgbClr val="0070C0"/>
              </a:solidFill>
              <a:ea typeface="Cambria" panose="02040503050406030204" pitchFamily="18" charset="0"/>
              <a:cs typeface="Times New Roman" panose="02020603050405020304" pitchFamily="18" charset="0"/>
              <a:sym typeface="Arial" panose="020B0604020202020204"/>
            </a:endParaRP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Submitted by</a:t>
            </a:r>
            <a:endParaRPr lang="en-IN" sz="2400" b="1" dirty="0">
              <a:solidFill>
                <a:srgbClr val="0070C0"/>
              </a:solidFill>
              <a:ea typeface="Cambria" panose="02040503050406030204" pitchFamily="18" charset="0"/>
              <a:cs typeface="Times New Roman" panose="02020603050405020304" pitchFamily="18" charset="0"/>
              <a:sym typeface="Arial" panose="020B0604020202020204"/>
            </a:endParaRPr>
          </a:p>
        </p:txBody>
      </p:sp>
      <p:graphicFrame>
        <p:nvGraphicFramePr>
          <p:cNvPr id="2" name="Table 2"/>
          <p:cNvGraphicFramePr>
            <a:graphicFrameLocks noGrp="1"/>
          </p:cNvGraphicFramePr>
          <p:nvPr>
            <p:custDataLst>
              <p:tags r:id="rId3"/>
            </p:custDataLst>
          </p:nvPr>
        </p:nvGraphicFramePr>
        <p:xfrm>
          <a:off x="1696085" y="3086100"/>
          <a:ext cx="6096000" cy="1828800"/>
        </p:xfrm>
        <a:graphic>
          <a:graphicData uri="http://schemas.openxmlformats.org/drawingml/2006/table">
            <a:tbl>
              <a:tblPr firstRow="1" bandRow="1">
                <a:tableStyleId>{5C22544A-7EE6-4342-B048-85BDC9FD1C3A}</a:tableStyleId>
              </a:tblPr>
              <a:tblGrid>
                <a:gridCol w="3048000"/>
                <a:gridCol w="3048000"/>
              </a:tblGrid>
              <a:tr h="365760">
                <a:tc>
                  <a:txBody>
                    <a:bodyPr/>
                    <a:lstStyle/>
                    <a:p>
                      <a:pPr algn="ctr"/>
                      <a:r>
                        <a:rPr lang="en-US" dirty="0"/>
                        <a:t>ROLL</a:t>
                      </a:r>
                      <a:endParaRPr lang="en-US" dirty="0"/>
                    </a:p>
                  </a:txBody>
                  <a:tcPr/>
                </a:tc>
                <a:tc>
                  <a:txBody>
                    <a:bodyPr/>
                    <a:lstStyle/>
                    <a:p>
                      <a:pPr algn="ctr"/>
                      <a:r>
                        <a:rPr lang="en-US" dirty="0"/>
                        <a:t>NAME</a:t>
                      </a:r>
                      <a:endParaRPr lang="en-US" dirty="0"/>
                    </a:p>
                  </a:txBody>
                  <a:tcPr/>
                </a:tc>
              </a:tr>
              <a:tr h="365760">
                <a:tc>
                  <a:txBody>
                    <a:bodyPr/>
                    <a:lstStyle/>
                    <a:p>
                      <a:r>
                        <a:rPr lang="en-US"/>
                        <a:t>2301730006</a:t>
                      </a:r>
                      <a:endParaRPr lang="en-US"/>
                    </a:p>
                  </a:txBody>
                  <a:tcPr/>
                </a:tc>
                <a:tc>
                  <a:txBody>
                    <a:bodyPr/>
                    <a:lstStyle/>
                    <a:p>
                      <a:r>
                        <a:rPr lang="en-US" dirty="0"/>
                        <a:t>NANDINI SHARMA</a:t>
                      </a:r>
                      <a:endParaRPr lang="en-US" dirty="0"/>
                    </a:p>
                  </a:txBody>
                  <a:tcPr/>
                </a:tc>
              </a:tr>
              <a:tr h="365760">
                <a:tc>
                  <a:txBody>
                    <a:bodyPr/>
                    <a:lstStyle/>
                    <a:p>
                      <a:r>
                        <a:rPr lang="en-US" dirty="0"/>
                        <a:t>2301730024</a:t>
                      </a:r>
                      <a:endParaRPr lang="en-US" dirty="0"/>
                    </a:p>
                  </a:txBody>
                  <a:tcPr/>
                </a:tc>
                <a:tc>
                  <a:txBody>
                    <a:bodyPr/>
                    <a:lstStyle/>
                    <a:p>
                      <a:r>
                        <a:rPr lang="en-US" dirty="0"/>
                        <a:t>DEEPIKA DABAS</a:t>
                      </a:r>
                      <a:endParaRPr lang="en-US" dirty="0"/>
                    </a:p>
                  </a:txBody>
                  <a:tcPr/>
                </a:tc>
              </a:tr>
              <a:tr h="365760">
                <a:tc>
                  <a:txBody>
                    <a:bodyPr/>
                    <a:lstStyle/>
                    <a:p>
                      <a:r>
                        <a:rPr lang="en-US" dirty="0"/>
                        <a:t>2301730050</a:t>
                      </a:r>
                      <a:endParaRPr lang="en-US" dirty="0"/>
                    </a:p>
                  </a:txBody>
                  <a:tcPr/>
                </a:tc>
                <a:tc>
                  <a:txBody>
                    <a:bodyPr/>
                    <a:lstStyle/>
                    <a:p>
                      <a:r>
                        <a:rPr lang="en-US" dirty="0"/>
                        <a:t>GARIMA SHAH</a:t>
                      </a:r>
                      <a:endParaRPr lang="en-US" dirty="0"/>
                    </a:p>
                  </a:txBody>
                  <a:tcPr/>
                </a:tc>
              </a:tr>
            </a:tbl>
          </a:graphicData>
        </a:graphic>
      </p:graphicFrame>
      <p:sp>
        <p:nvSpPr>
          <p:cNvPr id="5" name="TextBox 4"/>
          <p:cNvSpPr txBox="1"/>
          <p:nvPr/>
        </p:nvSpPr>
        <p:spPr>
          <a:xfrm>
            <a:off x="621030" y="1305560"/>
            <a:ext cx="8016240" cy="987425"/>
          </a:xfrm>
          <a:prstGeom prst="rect">
            <a:avLst/>
          </a:prstGeom>
          <a:noFill/>
        </p:spPr>
        <p:txBody>
          <a:bodyPr wrap="square">
            <a:noAutofit/>
          </a:bodyPr>
          <a:lstStyle/>
          <a:p>
            <a:pPr lvl="0" algn="ctr">
              <a:buSzPct val="25000"/>
            </a:pPr>
            <a:r>
              <a:rPr lang="en-US" altLang="en-IN" sz="3600" b="1" dirty="0">
                <a:solidFill>
                  <a:srgbClr val="C00000"/>
                </a:solidFill>
                <a:ea typeface="Cambria" panose="02040503050406030204" pitchFamily="18" charset="0"/>
                <a:cs typeface="Times New Roman" panose="02020603050405020304" pitchFamily="18" charset="0"/>
                <a:sym typeface="Arial" panose="020B0604020202020204"/>
              </a:rPr>
              <a:t>SMART BILLING SYSTEM FOR CANTEENS</a:t>
            </a:r>
            <a:endParaRPr lang="en-US" altLang="en-IN" sz="3600" b="1" dirty="0">
              <a:solidFill>
                <a:srgbClr val="C00000"/>
              </a:solidFill>
              <a:ea typeface="Cambria" panose="02040503050406030204" pitchFamily="18" charset="0"/>
              <a:cs typeface="Times New Roman" panose="02020603050405020304" pitchFamily="18" charset="0"/>
              <a:sym typeface="Arial" panose="020B0604020202020204"/>
            </a:endParaRPr>
          </a:p>
        </p:txBody>
      </p:sp>
      <p:sp>
        <p:nvSpPr>
          <p:cNvPr id="8" name="TextBox 7"/>
          <p:cNvSpPr txBox="1"/>
          <p:nvPr/>
        </p:nvSpPr>
        <p:spPr>
          <a:xfrm>
            <a:off x="236440" y="5733256"/>
            <a:ext cx="8584032" cy="645160"/>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panose="020B0604020202020204"/>
              </a:rPr>
              <a:t>Industry Mentor:</a:t>
            </a:r>
            <a:r>
              <a:rPr lang="en-US" altLang="en-IN" sz="1800" b="1" dirty="0">
                <a:solidFill>
                  <a:srgbClr val="0070C0"/>
                </a:solidFill>
                <a:ea typeface="Cambria" panose="02040503050406030204" pitchFamily="18" charset="0"/>
                <a:cs typeface="Times New Roman" panose="02020603050405020304" pitchFamily="18" charset="0"/>
                <a:sym typeface="Arial" panose="020B0604020202020204"/>
              </a:rPr>
              <a:t> Mr. Shivam</a:t>
            </a:r>
            <a:endParaRPr lang="en-IN" sz="1800" b="1" dirty="0">
              <a:solidFill>
                <a:srgbClr val="0070C0"/>
              </a:solidFill>
              <a:ea typeface="Cambria" panose="02040503050406030204" pitchFamily="18" charset="0"/>
              <a:cs typeface="Times New Roman" panose="02020603050405020304" pitchFamily="18" charset="0"/>
              <a:sym typeface="Arial" panose="020B0604020202020204"/>
            </a:endParaRPr>
          </a:p>
          <a:p>
            <a:pPr lvl="0">
              <a:buSzPct val="25000"/>
            </a:pPr>
            <a:r>
              <a:rPr lang="en-IN" b="1" dirty="0">
                <a:solidFill>
                  <a:srgbClr val="0070C0"/>
                </a:solidFill>
                <a:ea typeface="Cambria" panose="02040503050406030204" pitchFamily="18" charset="0"/>
                <a:cs typeface="Times New Roman" panose="02020603050405020304" pitchFamily="18" charset="0"/>
                <a:sym typeface="Arial" panose="020B0604020202020204"/>
              </a:rPr>
              <a:t>Faculty Mentor:</a:t>
            </a:r>
            <a:r>
              <a:rPr lang="en-IN" sz="1800" b="1" dirty="0">
                <a:solidFill>
                  <a:srgbClr val="0070C0"/>
                </a:solidFill>
                <a:ea typeface="Cambria" panose="02040503050406030204" pitchFamily="18" charset="0"/>
                <a:cs typeface="Times New Roman" panose="02020603050405020304" pitchFamily="18" charset="0"/>
                <a:sym typeface="Arial" panose="020B0604020202020204"/>
              </a:rPr>
              <a:t> </a:t>
            </a:r>
            <a:r>
              <a:rPr lang="en-US" altLang="en-IN" sz="1800" b="1" dirty="0">
                <a:solidFill>
                  <a:srgbClr val="0070C0"/>
                </a:solidFill>
                <a:ea typeface="Cambria" panose="02040503050406030204" pitchFamily="18" charset="0"/>
                <a:cs typeface="Times New Roman" panose="02020603050405020304" pitchFamily="18" charset="0"/>
                <a:sym typeface="Arial" panose="020B0604020202020204"/>
              </a:rPr>
              <a:t>Mrs. Jyoti Kataria</a:t>
            </a:r>
            <a:endParaRPr lang="en-US" altLang="en-IN" sz="1800" b="1" dirty="0">
              <a:solidFill>
                <a:srgbClr val="0070C0"/>
              </a:solidFill>
              <a:ea typeface="Cambria" panose="02040503050406030204" pitchFamily="18" charset="0"/>
              <a:cs typeface="Times New Roman" panose="02020603050405020304" pitchFamily="18" charset="0"/>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705" y="1294130"/>
            <a:ext cx="8963660" cy="5015865"/>
          </a:xfrm>
          <a:prstGeom prst="rect">
            <a:avLst/>
          </a:prstGeom>
          <a:noFill/>
        </p:spPr>
        <p:txBody>
          <a:bodyPr wrap="square">
            <a:noAutofit/>
          </a:bodyPr>
          <a:lstStyle/>
          <a:p>
            <a:pPr marL="0" marR="0" algn="just" fontAlgn="base">
              <a:lnSpc>
                <a:spcPct val="107000"/>
              </a:lnSpc>
              <a:spcBef>
                <a:spcPts val="0"/>
              </a:spcBef>
              <a:spcAft>
                <a:spcPts val="0"/>
              </a:spcAft>
            </a:pPr>
            <a:r>
              <a:rPr lang="en-US" altLang="en-US" sz="2400" kern="100" dirty="0">
                <a:effectLst/>
                <a:latin typeface="+mj-lt"/>
                <a:ea typeface="Calibri" panose="020F0502020204030204" pitchFamily="34" charset="0"/>
                <a:cs typeface="Times New Roman" panose="02020603050405020304" pitchFamily="18" charset="0"/>
              </a:rPr>
              <a:t>The Smart Billing System for Canteens is a digital solution designed to modernize food ordering and payment processes in institutional or office canteens. It enables users to browse a digital menu, place orders, and make cashless payments through mobile or kiosk interfaces. The system generates real-time order updates, automates inventory tracking, and reduces manual workload for staff. Admins can monitor sales, manage menu items, and view analytics through a centralized dashboard. This project aims to enhance efficiency, reduce waiting times, and improve the overall user experience in canteen operations.</a:t>
            </a:r>
            <a:endParaRPr lang="en-US" altLang="en-US" sz="24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4436110"/>
          </a:xfrm>
          <a:prstGeom prst="rect">
            <a:avLst/>
          </a:prstGeom>
          <a:noFill/>
        </p:spPr>
        <p:txBody>
          <a:bodyPr wrap="square">
            <a:spAutoFit/>
          </a:bodyPr>
          <a:lstStyle/>
          <a:p>
            <a:pPr marL="0" marR="0" algn="just" fontAlgn="base">
              <a:lnSpc>
                <a:spcPct val="107000"/>
              </a:lnSpc>
              <a:spcBef>
                <a:spcPts val="0"/>
              </a:spcBef>
              <a:spcAft>
                <a:spcPts val="0"/>
              </a:spcAft>
            </a:pPr>
            <a:r>
              <a:rPr lang="en-US" altLang="en-US" sz="2400" kern="100" dirty="0">
                <a:effectLst/>
                <a:latin typeface="+mj-lt"/>
                <a:ea typeface="Calibri" panose="020F0502020204030204" pitchFamily="34" charset="0"/>
                <a:cs typeface="Times New Roman" panose="02020603050405020304" pitchFamily="18" charset="0"/>
              </a:rPr>
              <a:t>The primary objective of the Smart Billing System for Canteens is to automate and streamline the food ordering and billing process. It aims to reduce customer wait times by enabling quick digital order placement and fast, cashless transactions. The system will improve order accuracy through real-time tracking and digital management. It will also maintain updated inventory records by auto-deducting items as sales occur. Additionally, the system provides an admin interface for menu management, sales analytics, and inventory control. Overall, the project seeks to enhance operational efficiency, minimize human error, and improve the overall dining experience for both staff and customers.</a:t>
            </a:r>
            <a:endParaRPr lang="en-US" altLang="en-US" sz="24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276225" y="1287780"/>
            <a:ext cx="8456295" cy="3842385"/>
          </a:xfrm>
          <a:prstGeom prst="rect">
            <a:avLst/>
          </a:prstGeom>
          <a:noFill/>
        </p:spPr>
        <p:txBody>
          <a:bodyPr wrap="square">
            <a:noAutofit/>
          </a:bodyPr>
          <a:lstStyle/>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rPr>
              <a:t>The Smart Billing System for Canteens is designed to streamline food ordering and billing processes using modern digital technology. It allows users to browse the digital menu, place orders quickly, and make payments through various options like UPI, debit/credit cards, or mobile wallets. Real-time order tracking keeps users informed, reducing confusion and long wait times. The system automatically updates inventory based on sales, ensuring better stock management. Canteen staff can view and manage live orders through a kitchen display system, improving efficiency and accuracy. An intuitive admin dashboard allows administrators to manage menu items, pricing, and view detailed sales reports. The system also provides alerts for low stock levels and customer feedback options for continuous improvement. By automating billing and order management, this smart system enhances user satisfaction, reduces manual workload, minimizes errors, and provides valuable insights through data analytics for better decision-making and smoother canteen operations.</a:t>
            </a:r>
            <a:endParaRPr lang="en-US" altLang="en-US" sz="20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705" y="1232535"/>
            <a:ext cx="8399145" cy="3731895"/>
          </a:xfrm>
          <a:prstGeom prst="rect">
            <a:avLst/>
          </a:prstGeom>
          <a:noFill/>
        </p:spPr>
        <p:txBody>
          <a:bodyPr wrap="square">
            <a:noAutofit/>
          </a:bodyPr>
          <a:lstStyle/>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1. User Registration and Login</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Users (students/employees) create accounts or log in using credentials or student ID.</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Secure authentication using OTP or password.</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2. Menu Browsing and Order Placement</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Users browse the digital menu, select items, customize orders, and place them via app or kiosk.</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3. Digital Billing and Payments</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System generates a bill and processes payment through UPI, card, or wallet.</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Receipt is generated and sent digitally.</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4. Real-time Order Tracking</a:t>
            </a:r>
            <a:endParaRPr lang="en-US" altLang="en-US"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kern="100" dirty="0">
                <a:effectLst/>
                <a:latin typeface="+mj-lt"/>
                <a:ea typeface="Calibri" panose="020F0502020204030204" pitchFamily="34" charset="0"/>
                <a:cs typeface="Times New Roman" panose="02020603050405020304" pitchFamily="18" charset="0"/>
              </a:rPr>
              <a:t>Users receive live updates on order status (e.g., Preparing, Ready, Completed).</a:t>
            </a:r>
            <a:endParaRPr lang="en-US" altLang="en-US"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5028565"/>
          </a:xfrm>
          <a:prstGeom prst="rect">
            <a:avLst/>
          </a:prstGeom>
          <a:noFill/>
        </p:spPr>
        <p:txBody>
          <a:bodyPr wrap="square">
            <a:spAutoFit/>
          </a:bodyPr>
          <a:lstStyle/>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[Start]</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[User Login/Register]</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[Browse Menu]</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[Select Items &amp; Place Order]</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[Billing &amp; Payment]</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[Generate Digital Bill + Order Confirmation]</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[Update Inventory Automatically]</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[Send Order to Kitchen Display System]</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[Kitchen Staff Prepares Order]</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[Order Ready Notification to User]</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[User Collects Order]</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[Admin Dashboard Updates Sales &amp; Stock Reports]</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   ↓</a:t>
            </a:r>
            <a:endParaRPr lang="en-US" altLang="en-US" sz="12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1200" kern="100" dirty="0">
                <a:effectLst/>
                <a:latin typeface="+mj-lt"/>
                <a:ea typeface="Calibri" panose="020F0502020204030204" pitchFamily="34" charset="0"/>
                <a:cs typeface="Times New Roman" panose="02020603050405020304" pitchFamily="18" charset="0"/>
              </a:rPr>
              <a:t>[End]</a:t>
            </a:r>
            <a:endParaRPr lang="en-US" altLang="en-US" sz="12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391160" y="1487805"/>
            <a:ext cx="8573135" cy="4217670"/>
          </a:xfrm>
          <a:prstGeom prst="rect">
            <a:avLst/>
          </a:prstGeom>
          <a:noFill/>
        </p:spPr>
        <p:txBody>
          <a:bodyPr wrap="square">
            <a:noAutofit/>
          </a:bodyPr>
          <a:lstStyle/>
          <a:p>
            <a:pPr indent="0" algn="l">
              <a:buFont typeface="Arial" panose="020B0604020202020204" pitchFamily="34" charset="0"/>
              <a:buNone/>
            </a:pPr>
            <a:r>
              <a:rPr lang="en-US" altLang="en-US" sz="2400" b="1" i="0" dirty="0">
                <a:solidFill>
                  <a:srgbClr val="374151"/>
                </a:solidFill>
                <a:effectLst/>
                <a:latin typeface="+mj-lt"/>
                <a:cs typeface="+mj-lt"/>
              </a:rPr>
              <a:t>Databases</a:t>
            </a:r>
            <a:endParaRPr lang="en-US" altLang="en-US" sz="2400" b="1" i="0" dirty="0">
              <a:solidFill>
                <a:srgbClr val="374151"/>
              </a:solidFill>
              <a:effectLst/>
              <a:latin typeface="+mj-lt"/>
              <a:cs typeface="+mj-lt"/>
            </a:endParaRPr>
          </a:p>
          <a:p>
            <a:pPr indent="0" algn="l">
              <a:buFont typeface="Arial" panose="020B0604020202020204" pitchFamily="34" charset="0"/>
              <a:buNone/>
            </a:pPr>
            <a:endParaRPr lang="en-US" altLang="en-US" sz="1600" b="0" i="0" dirty="0">
              <a:solidFill>
                <a:srgbClr val="374151"/>
              </a:solidFill>
              <a:effectLst/>
              <a:latin typeface="+mj-lt"/>
              <a:cs typeface="+mj-lt"/>
            </a:endParaRPr>
          </a:p>
          <a:p>
            <a:pPr indent="0" algn="l">
              <a:buFont typeface="Arial" panose="020B0604020202020204" pitchFamily="34" charset="0"/>
              <a:buNone/>
            </a:pPr>
            <a:r>
              <a:rPr lang="en-US" altLang="en-US" sz="1600" b="0" i="0" dirty="0">
                <a:solidFill>
                  <a:srgbClr val="374151"/>
                </a:solidFill>
                <a:effectLst/>
                <a:latin typeface="+mj-lt"/>
                <a:cs typeface="+mj-lt"/>
              </a:rPr>
              <a:t>MongoDB (NoSQL) or MySQL (Relational):</a:t>
            </a:r>
            <a:endParaRPr lang="en-US" altLang="en-US" sz="1600" b="0" i="0" dirty="0">
              <a:solidFill>
                <a:srgbClr val="374151"/>
              </a:solidFill>
              <a:effectLst/>
              <a:latin typeface="+mj-lt"/>
              <a:cs typeface="+mj-lt"/>
            </a:endParaRPr>
          </a:p>
          <a:p>
            <a:pPr indent="0" algn="l">
              <a:buFont typeface="Arial" panose="020B0604020202020204" pitchFamily="34" charset="0"/>
              <a:buNone/>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Stores user information (e.g., names, login credentials)</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Menu items (name, price, category, availability)</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Orders and transactions (timestamps, payment status)</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Inventory stock levels</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Admin and staff credentials</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r>
              <a:rPr lang="en-US" altLang="en-US" sz="1600" b="0" i="0" dirty="0">
                <a:solidFill>
                  <a:srgbClr val="374151"/>
                </a:solidFill>
                <a:effectLst/>
                <a:latin typeface="+mj-lt"/>
                <a:cs typeface="+mj-lt"/>
              </a:rPr>
              <a:t>Structured to enable fast access and scalability.</a:t>
            </a:r>
            <a:endParaRPr lang="en-US" altLang="en-US" sz="1600" b="0" i="0" dirty="0">
              <a:solidFill>
                <a:srgbClr val="374151"/>
              </a:solidFill>
              <a:effectLst/>
              <a:latin typeface="+mj-lt"/>
              <a:cs typeface="+mj-lt"/>
            </a:endParaRPr>
          </a:p>
          <a:p>
            <a:pPr marL="285750" indent="-285750" algn="l">
              <a:buFont typeface="Arial" panose="020B0604020202020204" pitchFamily="34" charset="0"/>
              <a:buChar char="•"/>
            </a:pPr>
            <a:endParaRPr lang="en-US" altLang="en-US" sz="1600" b="0" i="0" dirty="0">
              <a:solidFill>
                <a:srgbClr val="374151"/>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488315"/>
            <a:ext cx="8229600" cy="5638165"/>
          </a:xfrm>
        </p:spPr>
        <p:txBody>
          <a:bodyPr>
            <a:normAutofit lnSpcReduction="10000"/>
          </a:bodyPr>
          <a:p>
            <a:pPr indent="0" algn="l">
              <a:buFont typeface="Arial" panose="020B0604020202020204" pitchFamily="34" charset="0"/>
              <a:buNone/>
            </a:pPr>
            <a:r>
              <a:rPr lang="en-US" altLang="en-US" sz="2400" b="1" dirty="0">
                <a:solidFill>
                  <a:srgbClr val="374151"/>
                </a:solidFill>
                <a:effectLst/>
                <a:latin typeface="+mj-lt"/>
                <a:cs typeface="+mj-lt"/>
                <a:sym typeface="+mn-ea"/>
              </a:rPr>
              <a:t> Software Tools</a:t>
            </a:r>
            <a:endParaRPr lang="en-US" altLang="en-US" sz="2400" b="1" dirty="0">
              <a:solidFill>
                <a:srgbClr val="374151"/>
              </a:solidFill>
              <a:effectLst/>
              <a:latin typeface="+mj-lt"/>
              <a:cs typeface="+mj-lt"/>
              <a:sym typeface="+mn-ea"/>
            </a:endParaRPr>
          </a:p>
          <a:p>
            <a:pPr indent="0" algn="l">
              <a:buFont typeface="Arial" panose="020B0604020202020204" pitchFamily="34" charset="0"/>
              <a:buNone/>
            </a:pPr>
            <a:endParaRPr lang="en-US" altLang="en-US" sz="2000" b="1" dirty="0">
              <a:solidFill>
                <a:srgbClr val="374151"/>
              </a:solidFill>
              <a:effectLst/>
              <a:latin typeface="+mj-lt"/>
              <a:cs typeface="+mj-lt"/>
              <a:sym typeface="+mn-ea"/>
            </a:endParaRPr>
          </a:p>
          <a:p>
            <a:pPr indent="0" algn="l">
              <a:buFont typeface="Arial" panose="020B0604020202020204" pitchFamily="34" charset="0"/>
              <a:buNone/>
            </a:pPr>
            <a:r>
              <a:rPr lang="en-US" altLang="en-US" sz="2000" b="1" dirty="0">
                <a:solidFill>
                  <a:srgbClr val="374151"/>
                </a:solidFill>
                <a:effectLst/>
                <a:latin typeface="+mj-lt"/>
                <a:cs typeface="+mj-lt"/>
                <a:sym typeface="+mn-ea"/>
              </a:rPr>
              <a:t>Frontend:</a:t>
            </a:r>
            <a:endParaRPr lang="en-US" altLang="en-US" sz="2000" b="0" i="0" dirty="0">
              <a:solidFill>
                <a:srgbClr val="374151"/>
              </a:solidFill>
              <a:effectLst/>
              <a:latin typeface="+mj-lt"/>
              <a:cs typeface="+mj-lt"/>
            </a:endParaRPr>
          </a:p>
          <a:p>
            <a:pPr marL="685800" algn="l"/>
            <a:r>
              <a:rPr lang="en-US" altLang="en-US" sz="2000" dirty="0">
                <a:solidFill>
                  <a:srgbClr val="374151"/>
                </a:solidFill>
                <a:effectLst/>
                <a:latin typeface="+mj-lt"/>
                <a:cs typeface="+mj-lt"/>
                <a:sym typeface="+mn-ea"/>
              </a:rPr>
              <a:t>React.js (for web interface)</a:t>
            </a:r>
            <a:endParaRPr lang="en-US" altLang="en-US" sz="2000" b="0" i="0" dirty="0">
              <a:solidFill>
                <a:srgbClr val="374151"/>
              </a:solidFill>
              <a:effectLst/>
              <a:latin typeface="+mj-lt"/>
              <a:cs typeface="+mj-lt"/>
            </a:endParaRPr>
          </a:p>
          <a:p>
            <a:pPr marL="685800" algn="l"/>
            <a:r>
              <a:rPr lang="en-US" altLang="en-US" sz="2000" dirty="0">
                <a:solidFill>
                  <a:srgbClr val="374151"/>
                </a:solidFill>
                <a:effectLst/>
                <a:latin typeface="+mj-lt"/>
                <a:cs typeface="+mj-lt"/>
                <a:sym typeface="+mn-ea"/>
              </a:rPr>
              <a:t>Flutter (for cross-platform mobile apps)</a:t>
            </a:r>
            <a:endParaRPr lang="en-US" altLang="en-US" sz="2000" b="0" i="0" dirty="0">
              <a:solidFill>
                <a:srgbClr val="374151"/>
              </a:solidFill>
              <a:effectLst/>
              <a:latin typeface="+mj-lt"/>
              <a:cs typeface="+mj-lt"/>
            </a:endParaRPr>
          </a:p>
          <a:p>
            <a:pPr marL="685800" algn="l"/>
            <a:r>
              <a:rPr lang="en-US" altLang="en-US" sz="2000" dirty="0">
                <a:solidFill>
                  <a:srgbClr val="374151"/>
                </a:solidFill>
                <a:effectLst/>
                <a:latin typeface="+mj-lt"/>
                <a:cs typeface="+mj-lt"/>
                <a:sym typeface="+mn-ea"/>
              </a:rPr>
              <a:t>Tailwind CSS / Bootstrap for responsive UI design</a:t>
            </a:r>
            <a:endParaRPr lang="en-US" altLang="en-US" sz="2000" b="0" i="0" dirty="0">
              <a:solidFill>
                <a:srgbClr val="374151"/>
              </a:solidFill>
              <a:effectLst/>
              <a:latin typeface="+mj-lt"/>
              <a:cs typeface="+mj-lt"/>
            </a:endParaRPr>
          </a:p>
          <a:p>
            <a:pPr marL="685800" algn="l"/>
            <a:endParaRPr lang="en-US" altLang="en-US" sz="2000" b="0" i="0" dirty="0">
              <a:solidFill>
                <a:srgbClr val="374151"/>
              </a:solidFill>
              <a:effectLst/>
              <a:latin typeface="+mj-lt"/>
              <a:cs typeface="+mj-lt"/>
            </a:endParaRPr>
          </a:p>
          <a:p>
            <a:pPr indent="0" algn="l">
              <a:buFont typeface="Arial" panose="020B0604020202020204" pitchFamily="34" charset="0"/>
              <a:buNone/>
            </a:pPr>
            <a:r>
              <a:rPr lang="en-US" altLang="en-US" sz="2000" b="1" dirty="0">
                <a:solidFill>
                  <a:srgbClr val="374151"/>
                </a:solidFill>
                <a:effectLst/>
                <a:latin typeface="+mj-lt"/>
                <a:cs typeface="+mj-lt"/>
                <a:sym typeface="+mn-ea"/>
              </a:rPr>
              <a:t>  Backend:</a:t>
            </a:r>
            <a:endParaRPr lang="en-US" altLang="en-US" sz="2000" dirty="0">
              <a:solidFill>
                <a:srgbClr val="374151"/>
              </a:solidFill>
              <a:effectLst/>
              <a:latin typeface="+mj-lt"/>
              <a:cs typeface="+mj-lt"/>
              <a:sym typeface="+mn-ea"/>
            </a:endParaRPr>
          </a:p>
          <a:p>
            <a:pPr marL="685800" algn="l"/>
            <a:r>
              <a:rPr lang="en-US" altLang="en-US" sz="2000" dirty="0">
                <a:solidFill>
                  <a:srgbClr val="374151"/>
                </a:solidFill>
                <a:effectLst/>
                <a:latin typeface="+mj-lt"/>
                <a:cs typeface="+mj-lt"/>
                <a:sym typeface="+mn-ea"/>
              </a:rPr>
              <a:t>Node.js (with Express.js) or Django (Python) for REST APIs</a:t>
            </a:r>
            <a:endParaRPr lang="en-US" altLang="en-US" sz="2000" b="0" i="0" dirty="0">
              <a:solidFill>
                <a:srgbClr val="374151"/>
              </a:solidFill>
              <a:effectLst/>
              <a:latin typeface="+mj-lt"/>
              <a:cs typeface="+mj-lt"/>
            </a:endParaRPr>
          </a:p>
          <a:p>
            <a:pPr marL="685800" algn="l"/>
            <a:r>
              <a:rPr lang="en-US" altLang="en-US" sz="2000" dirty="0">
                <a:solidFill>
                  <a:srgbClr val="374151"/>
                </a:solidFill>
                <a:effectLst/>
                <a:latin typeface="+mj-lt"/>
                <a:cs typeface="+mj-lt"/>
                <a:sym typeface="+mn-ea"/>
              </a:rPr>
              <a:t>JWT / Firebase Authentication for secure login</a:t>
            </a:r>
            <a:endParaRPr lang="en-US" altLang="en-US" sz="2000" b="0" i="0" dirty="0">
              <a:solidFill>
                <a:srgbClr val="374151"/>
              </a:solidFill>
              <a:effectLst/>
              <a:latin typeface="+mj-lt"/>
              <a:cs typeface="+mj-lt"/>
            </a:endParaRPr>
          </a:p>
          <a:p>
            <a:pPr marL="685800" algn="l"/>
            <a:r>
              <a:rPr lang="en-US" altLang="en-US" sz="2000" dirty="0">
                <a:solidFill>
                  <a:srgbClr val="374151"/>
                </a:solidFill>
                <a:effectLst/>
                <a:latin typeface="Calibri" panose="020F0502020204030204" pitchFamily="34" charset="0"/>
                <a:cs typeface="Calibri" panose="020F0502020204030204" pitchFamily="34" charset="0"/>
                <a:sym typeface="+mn-ea"/>
              </a:rPr>
              <a:t>Postman for API testing</a:t>
            </a:r>
            <a:endParaRPr lang="en-US" altLang="en-US" sz="2000" b="0" i="0" dirty="0">
              <a:solidFill>
                <a:srgbClr val="374151"/>
              </a:solidFill>
              <a:effectLst/>
              <a:latin typeface="Calibri" panose="020F0502020204030204" pitchFamily="34" charset="0"/>
              <a:cs typeface="Calibri" panose="020F0502020204030204" pitchFamily="34" charset="0"/>
            </a:endParaRPr>
          </a:p>
          <a:p>
            <a:pPr marL="0" indent="0">
              <a:buNone/>
            </a:pPr>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71755" y="1061720"/>
            <a:ext cx="9072245" cy="6492240"/>
          </a:xfrm>
          <a:prstGeom prst="rect">
            <a:avLst/>
          </a:prstGeom>
          <a:noFill/>
        </p:spPr>
        <p:txBody>
          <a:bodyPr wrap="square">
            <a:noAutofit/>
          </a:bodyPr>
          <a:lstStyle/>
          <a:p>
            <a:pPr indent="0" algn="l">
              <a:buFont typeface="Arial" panose="020B0604020202020204" pitchFamily="34" charset="0"/>
              <a:buNone/>
            </a:pPr>
            <a:r>
              <a:rPr lang="en-US" altLang="en-US" sz="2000" b="0" i="0" dirty="0">
                <a:solidFill>
                  <a:srgbClr val="374151"/>
                </a:solidFill>
                <a:effectLst/>
                <a:latin typeface="+mj-ea"/>
                <a:cs typeface="+mj-ea"/>
              </a:rPr>
              <a:t>1. Requirement Analysis</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Conducted surveys and interviews with canteen users and staff to identify key pain points: long queues, manual errors, delayed service, and lack of inventory tracking.</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Defined system goals: speed, accuracy, user-friendliness, and automation.</a:t>
            </a:r>
            <a:endParaRPr lang="en-US" altLang="en-US" sz="2000" b="0" i="0" dirty="0">
              <a:solidFill>
                <a:srgbClr val="374151"/>
              </a:solidFill>
              <a:effectLst/>
              <a:latin typeface="+mj-ea"/>
              <a:cs typeface="+mj-ea"/>
            </a:endParaRPr>
          </a:p>
          <a:p>
            <a:pPr indent="0" algn="l">
              <a:buFont typeface="Arial" panose="020B0604020202020204" pitchFamily="34" charset="0"/>
              <a:buNone/>
            </a:pP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2. System Design</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Used UML diagrams (Use Case, Activity, Class Diagrams) to map out the system's structure and workflow.</a:t>
            </a:r>
            <a:endParaRPr lang="en-US" altLang="en-US" sz="2000" b="0" i="0" dirty="0">
              <a:solidFill>
                <a:srgbClr val="374151"/>
              </a:solidFill>
              <a:effectLst/>
              <a:latin typeface="+mj-ea"/>
              <a:cs typeface="+mj-ea"/>
            </a:endParaRPr>
          </a:p>
          <a:p>
            <a:pPr indent="0" algn="l">
              <a:buFont typeface="Arial" panose="020B0604020202020204" pitchFamily="34" charset="0"/>
              <a:buNone/>
            </a:pP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Designed wireframes and mockups for user interface planning using tools like Figma.</a:t>
            </a:r>
            <a:endParaRPr lang="en-US" altLang="en-US" sz="2000" b="0" i="0" dirty="0">
              <a:solidFill>
                <a:srgbClr val="374151"/>
              </a:solidFill>
              <a:effectLst/>
              <a:latin typeface="+mj-ea"/>
              <a:cs typeface="+mj-ea"/>
            </a:endParaRPr>
          </a:p>
          <a:p>
            <a:pPr indent="0" algn="l">
              <a:buFont typeface="Arial" panose="020B0604020202020204" pitchFamily="34" charset="0"/>
              <a:buNone/>
            </a:pP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3. Frontend Development</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Developed a responsive user interface using React.js for web and Flutter for mobile.</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b="0" i="0" dirty="0">
                <a:solidFill>
                  <a:srgbClr val="374151"/>
                </a:solidFill>
                <a:effectLst/>
                <a:latin typeface="+mj-ea"/>
                <a:cs typeface="+mj-ea"/>
              </a:rPr>
              <a:t>Ensured intuitive navigation, live order status, and digital payment flow.</a:t>
            </a:r>
            <a:endParaRPr lang="en-US" altLang="en-US" sz="2000" b="0" i="0" dirty="0">
              <a:solidFill>
                <a:srgbClr val="374151"/>
              </a:solidFill>
              <a:effectLst/>
              <a:latin typeface="+mj-ea"/>
              <a:cs typeface="+mj-ea"/>
            </a:endParaRPr>
          </a:p>
          <a:p>
            <a:pPr indent="0" algn="l">
              <a:buFont typeface="Arial" panose="020B0604020202020204" pitchFamily="34" charset="0"/>
              <a:buNone/>
            </a:pPr>
            <a:endParaRPr lang="en-US" altLang="en-US" sz="1600" b="0" i="0" dirty="0">
              <a:solidFill>
                <a:srgbClr val="374151"/>
              </a:solidFill>
              <a:effectLst/>
              <a:latin typeface="+mj-ea"/>
              <a:cs typeface="+mj-ea"/>
            </a:endParaRPr>
          </a:p>
          <a:p>
            <a:pPr indent="0" algn="l">
              <a:buFont typeface="Arial" panose="020B0604020202020204" pitchFamily="34" charset="0"/>
              <a:buNone/>
            </a:pPr>
            <a:endParaRPr lang="en-US" altLang="en-US" sz="1600" b="0" i="0" dirty="0">
              <a:solidFill>
                <a:srgbClr val="374151"/>
              </a:solidFill>
              <a:effectLst/>
              <a:latin typeface="+mj-ea"/>
              <a:cs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09880"/>
            <a:ext cx="8229600" cy="5816600"/>
          </a:xfrm>
        </p:spPr>
        <p:txBody>
          <a:bodyPr>
            <a:normAutofit/>
          </a:bodyPr>
          <a:p>
            <a:pPr indent="0" algn="l">
              <a:buFont typeface="Arial" panose="020B0604020202020204" pitchFamily="34" charset="0"/>
              <a:buNone/>
            </a:pPr>
            <a:endParaRPr lang="en-US" altLang="en-US"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4. Backend Development</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Built a RESTful API using Node.js (or Django as an alternative backend framework).</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Managed user authentication, order processing, inventory updates, and report generation.</a:t>
            </a:r>
            <a:endParaRPr lang="en-US" altLang="en-US" sz="2000" b="0" i="0" dirty="0">
              <a:solidFill>
                <a:srgbClr val="374151"/>
              </a:solidFill>
              <a:effectLst/>
              <a:latin typeface="+mj-ea"/>
              <a:cs typeface="+mj-ea"/>
            </a:endParaRPr>
          </a:p>
          <a:p>
            <a:pPr indent="0" algn="l">
              <a:buFont typeface="Arial" panose="020B0604020202020204" pitchFamily="34" charset="0"/>
              <a:buNone/>
            </a:pP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5. Database Management</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Used MongoDB or MySQL to store user data, menu items, orders, transactions, and stock levels.</a:t>
            </a:r>
            <a:endParaRPr lang="en-US" altLang="en-US" sz="2000" b="0" i="0" dirty="0">
              <a:solidFill>
                <a:srgbClr val="374151"/>
              </a:solidFill>
              <a:effectLst/>
              <a:latin typeface="+mj-ea"/>
              <a:cs typeface="+mj-ea"/>
            </a:endParaRPr>
          </a:p>
          <a:p>
            <a:pPr indent="0" algn="l">
              <a:buFont typeface="Arial" panose="020B0604020202020204" pitchFamily="34" charset="0"/>
              <a:buNone/>
            </a:pPr>
            <a:r>
              <a:rPr lang="en-US" altLang="en-US" sz="2000" dirty="0">
                <a:solidFill>
                  <a:srgbClr val="374151"/>
                </a:solidFill>
                <a:effectLst/>
                <a:latin typeface="+mj-ea"/>
                <a:cs typeface="+mj-ea"/>
                <a:sym typeface="+mn-ea"/>
              </a:rPr>
              <a:t>Ensured normalized schema for efficient querying and scalability.</a:t>
            </a:r>
            <a:endParaRPr lang="en-US" altLang="en-US" sz="2000" b="0" i="0" dirty="0">
              <a:solidFill>
                <a:srgbClr val="374151"/>
              </a:solidFill>
              <a:effectLst/>
              <a:latin typeface="+mj-ea"/>
              <a:cs typeface="+mj-ea"/>
            </a:endParaRPr>
          </a:p>
          <a:p>
            <a:pPr marL="0" indent="0">
              <a:buNone/>
            </a:pPr>
            <a:endParaRPr lang="en-US" altLang="en-US" sz="2000" b="0" i="0" dirty="0">
              <a:solidFill>
                <a:srgbClr val="374151"/>
              </a:solidFill>
              <a:effectLst/>
              <a:latin typeface="+mj-ea"/>
              <a:cs typeface="+mj-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5355590"/>
          </a:xfrm>
          <a:prstGeom prst="rect">
            <a:avLst/>
          </a:prstGeom>
          <a:noFill/>
        </p:spPr>
        <p:txBody>
          <a:bodyPr wrap="square">
            <a:spAutoFit/>
          </a:bodyPr>
          <a:lstStyle/>
          <a:p>
            <a:pPr marL="0" marR="0" algn="just" fontAlgn="base">
              <a:lnSpc>
                <a:spcPct val="107000"/>
              </a:lnSpc>
              <a:spcBef>
                <a:spcPts val="0"/>
              </a:spcBef>
              <a:spcAft>
                <a:spcPts val="0"/>
              </a:spcAft>
            </a:pPr>
            <a:r>
              <a:rPr lang="en-US" altLang="en-US" sz="2400" b="1" kern="100" dirty="0">
                <a:effectLst/>
                <a:latin typeface="+mj-lt"/>
                <a:ea typeface="Calibri" panose="020F0502020204030204" pitchFamily="34" charset="0"/>
                <a:cs typeface="Times New Roman" panose="02020603050405020304" pitchFamily="18" charset="0"/>
              </a:rPr>
              <a:t>Results:</a:t>
            </a:r>
            <a:endParaRPr lang="en-US" altLang="en-US" sz="2400" b="1"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Reduced Waiting Time by 60–80%: Customers could place and pay for orders faster, avoiding long queues during peak hours.</a:t>
            </a:r>
            <a:endParaRPr lang="en-US" altLang="en-US" sz="2000"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Improved Billing Accuracy: Automation eliminated human errors in price calculation and item entry.</a:t>
            </a:r>
            <a:endParaRPr lang="en-US" altLang="en-US" sz="2000"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Real-Time Inventory Updates: Stock levels adjusted instantly after each sale, reducing out-of-stock situations and over-ordering.</a:t>
            </a:r>
            <a:endParaRPr lang="en-US" altLang="en-US" sz="2000"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Higher Order Throughput: The kitchen handled more orders efficiently due to clear, digital order displays.</a:t>
            </a:r>
            <a:endParaRPr lang="en-US" altLang="en-US" sz="2000"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Smooth Admin Operations: Centralized dashboard made it easy to manage menu items, monitor daily sales, and generate reports.</a:t>
            </a:r>
            <a:endParaRPr lang="en-US" altLang="en-US" sz="2000" kern="100" dirty="0">
              <a:effectLst/>
              <a:latin typeface="+mj-lt"/>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Arial" panose="020B0604020202020204" pitchFamily="34" charset="0"/>
              <a:buChar char="•"/>
            </a:pPr>
            <a:r>
              <a:rPr lang="en-US" altLang="en-US" sz="2000" kern="100" dirty="0">
                <a:effectLst/>
                <a:latin typeface="+mj-lt"/>
                <a:ea typeface="Calibri" panose="020F0502020204030204" pitchFamily="34" charset="0"/>
                <a:cs typeface="Times New Roman" panose="02020603050405020304" pitchFamily="18" charset="0"/>
              </a:rPr>
              <a:t>Positive User Feedback: Most users reported better ordering experiences and preferred the digital system over traditional methods.</a:t>
            </a:r>
            <a:endParaRPr lang="en-US" altLang="en-US" sz="20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altLang="en-US" sz="28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685800"/>
            <a:ext cx="8229600" cy="5486400"/>
          </a:xfrm>
        </p:spPr>
        <p:txBody>
          <a:bodyPr>
            <a:normAutofit/>
          </a:bodyPr>
          <a:p>
            <a:pPr marL="0" marR="0" indent="0" algn="just" fontAlgn="base">
              <a:lnSpc>
                <a:spcPct val="107000"/>
              </a:lnSpc>
              <a:spcBef>
                <a:spcPts val="0"/>
              </a:spcBef>
              <a:spcAft>
                <a:spcPts val="0"/>
              </a:spcAft>
              <a:buNone/>
            </a:pPr>
            <a:r>
              <a:rPr lang="en-US" altLang="en-US" sz="4000" b="1" kern="100" dirty="0">
                <a:effectLst/>
                <a:latin typeface="+mj-lt"/>
                <a:ea typeface="Calibri" panose="020F0502020204030204" pitchFamily="34" charset="0"/>
                <a:cs typeface="Times New Roman" panose="02020603050405020304" pitchFamily="18" charset="0"/>
                <a:sym typeface="+mn-ea"/>
              </a:rPr>
              <a:t> Impact:</a:t>
            </a:r>
            <a:endParaRPr lang="en-US" altLang="en-US" sz="4000" b="1" kern="100" dirty="0">
              <a:effectLst/>
              <a:latin typeface="+mj-lt"/>
              <a:ea typeface="Calibri" panose="020F0502020204030204" pitchFamily="34" charset="0"/>
              <a:cs typeface="Times New Roman" panose="02020603050405020304" pitchFamily="18" charset="0"/>
              <a:sym typeface="+mn-ea"/>
            </a:endParaRPr>
          </a:p>
          <a:p>
            <a:pPr marL="0" marR="0" indent="0" algn="just" fontAlgn="base">
              <a:lnSpc>
                <a:spcPct val="107000"/>
              </a:lnSpc>
              <a:spcBef>
                <a:spcPts val="0"/>
              </a:spcBef>
              <a:spcAft>
                <a:spcPts val="0"/>
              </a:spcAft>
              <a:buNone/>
            </a:pPr>
            <a:endParaRPr lang="en-US" altLang="en-US" sz="4000" b="1"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sym typeface="+mn-ea"/>
              </a:rPr>
              <a:t>Enhanced Operational Efficiency: Streamlined workflows for users, kitchen staff, and management.</a:t>
            </a:r>
            <a:endParaRPr lang="en-US" altLang="en-US" sz="20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sym typeface="+mn-ea"/>
              </a:rPr>
              <a:t>Cost Savings: Reduced staffing needs for billing and inventory tracking, saving operational costs.</a:t>
            </a:r>
            <a:endParaRPr lang="en-US" altLang="en-US" sz="20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sym typeface="+mn-ea"/>
              </a:rPr>
              <a:t>Data-Driven Decisions: Admins used sales and stock data to optimize menu offerings and supply orders.</a:t>
            </a:r>
            <a:endParaRPr lang="en-US" altLang="en-US" sz="20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sym typeface="+mn-ea"/>
              </a:rPr>
              <a:t>User Satisfaction: Increased convenience and transparency led to higher customer retention and satisfaction.</a:t>
            </a:r>
            <a:endParaRPr lang="en-US" altLang="en-US" sz="20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US" sz="2000" kern="100" dirty="0">
                <a:effectLst/>
                <a:latin typeface="+mj-lt"/>
                <a:ea typeface="Calibri" panose="020F0502020204030204" pitchFamily="34" charset="0"/>
                <a:cs typeface="Times New Roman" panose="02020603050405020304" pitchFamily="18" charset="0"/>
                <a:sym typeface="+mn-ea"/>
              </a:rPr>
              <a:t>Scalability: The system can be extended to multiple canteen outlets with minimal adjustments.</a:t>
            </a:r>
            <a:endParaRPr lang="en-US" sz="2000" kern="100" dirty="0">
              <a:effectLst/>
              <a:latin typeface="+mj-lt"/>
              <a:ea typeface="Calibri" panose="020F0502020204030204" pitchFamily="34" charset="0"/>
              <a:cs typeface="Times New Roman" panose="02020603050405020304" pitchFamily="18" charset="0"/>
            </a:endParaRPr>
          </a:p>
          <a:p>
            <a:pPr marL="0" indent="0">
              <a:buNone/>
            </a:pPr>
            <a:endParaRPr lang="en-US" sz="20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anose="02020404030301010803" pitchFamily="18" charset="0"/>
              </a:rPr>
              <a:t>THANK</a:t>
            </a:r>
            <a:r>
              <a:rPr lang="en-US" sz="7200" dirty="0">
                <a:latin typeface="Garamond" panose="02020404030301010803" pitchFamily="18" charset="0"/>
              </a:rPr>
              <a:t> </a:t>
            </a:r>
            <a:r>
              <a:rPr lang="en-US" sz="7200" dirty="0">
                <a:solidFill>
                  <a:srgbClr val="E31E24"/>
                </a:solidFill>
                <a:latin typeface="Garamond" panose="02020404030301010803" pitchFamily="18" charset="0"/>
              </a:rPr>
              <a:t>YOU</a:t>
            </a:r>
            <a:endParaRPr lang="en-IN" sz="7200" dirty="0">
              <a:latin typeface="Garamond" panose="02020404030301010803" pitchFamily="18" charset="0"/>
            </a:endParaRPr>
          </a:p>
        </p:txBody>
      </p:sp>
    </p:spTree>
  </p:cSld>
  <p:clrMapOvr>
    <a:masterClrMapping/>
  </p:clrMapOvr>
</p:sld>
</file>

<file path=ppt/tags/tag1.xml><?xml version="1.0" encoding="utf-8"?>
<p:tagLst xmlns:p="http://schemas.openxmlformats.org/presentationml/2006/main">
  <p:tag name="TABLE_ENDDRAG_ORIGIN_RECT" val="480*114"/>
  <p:tag name="TABLE_ENDDRAG_RECT" val="133*243*480*1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6492</Words>
  <Application>WPS Slides</Application>
  <PresentationFormat/>
  <Paragraphs>176</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Cambria</vt:lpstr>
      <vt:lpstr>Times New Roman</vt:lpstr>
      <vt:lpstr>Arial</vt:lpstr>
      <vt:lpstr>Verdana</vt:lpstr>
      <vt:lpstr>Calibri</vt:lpstr>
      <vt:lpstr>Söhne</vt:lpstr>
      <vt:lpstr>Segoe Print</vt:lpstr>
      <vt:lpstr>Garamond</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Nandini Sharma</cp:lastModifiedBy>
  <cp:revision>3</cp:revision>
  <dcterms:created xsi:type="dcterms:W3CDTF">2025-04-30T13:19:44Z</dcterms:created>
  <dcterms:modified xsi:type="dcterms:W3CDTF">2025-04-30T14:17:13Z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23585FE257CF41FFB121E6DB281AEE19_13</vt:lpwstr>
  </property>
  <property fmtid="{D5CDD505-2E9C-101B-9397-08002B2CF9AE}" pid="3" name="KSOProductBuildVer">
    <vt:lpwstr>1033-12.2.0.20795</vt:lpwstr>
  </property>
</Properties>
</file>